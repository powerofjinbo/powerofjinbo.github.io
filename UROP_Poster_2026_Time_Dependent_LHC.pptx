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34747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4389120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4389120" cy="10972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3840480" cy="6949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0" y="91440"/>
            <a:ext cx="3200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Time-dependent Signals of New Physics at the LHC</a:t>
            </a:r>
            <a:endParaRPr lang="en-US" sz="5000" dirty="0"/>
          </a:p>
        </p:txBody>
      </p:sp>
      <p:sp>
        <p:nvSpPr>
          <p:cNvPr id="8" name="Text 4"/>
          <p:cNvSpPr/>
          <p:nvPr/>
        </p:nvSpPr>
        <p:spPr>
          <a:xfrm>
            <a:off x="5943600" y="1188720"/>
            <a:ext cx="3200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FERMILAB-PUB-26-0234-T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943600" y="1554480"/>
            <a:ext cx="3200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 Fieg</a:t>
            </a:r>
            <a:pPr algn="ctr" indent="0" marL="0">
              <a:buNone/>
            </a:pPr>
            <a:r>
              <a:rPr lang="en-US" sz="1600" baseline="30000" dirty="0">
                <a:solidFill>
                  <a:srgbClr val="FFFFFF"/>
                </a:solidFill>
              </a:rPr>
              <a:t>¹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Patrick J. Fox</a:t>
            </a:r>
            <a:pPr algn="ctr" indent="0" marL="0">
              <a:buNone/>
            </a:pPr>
            <a:r>
              <a:rPr lang="en-US" sz="1600" baseline="30000" dirty="0">
                <a:solidFill>
                  <a:srgbClr val="FFFFFF"/>
                </a:solidFill>
              </a:rPr>
              <a:t>¹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,  </a:t>
            </a:r>
            <a:pPr algn="ctr" indent="0" marL="0">
              <a:buNone/>
            </a:pPr>
            <a:r>
              <a:rPr lang="en-US" sz="2600" b="1" u="sng" dirty="0">
                <a:solidFill>
                  <a:srgbClr val="FFD7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Jinbo Zhang</a:t>
            </a:r>
            <a:pPr algn="ctr" indent="0" marL="0">
              <a:buNone/>
            </a:pPr>
            <a:r>
              <a:rPr lang="en-US" sz="1600" baseline="30000" dirty="0">
                <a:solidFill>
                  <a:srgbClr val="FFD700"/>
                </a:solidFill>
              </a:rPr>
              <a:t>²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Aishik Ghosh</a:t>
            </a:r>
            <a:pPr algn="ctr" indent="0" marL="0">
              <a:buNone/>
            </a:pPr>
            <a:r>
              <a:rPr lang="en-US" sz="1600" baseline="30000" dirty="0">
                <a:solidFill>
                  <a:srgbClr val="FFFFFF"/>
                </a:solidFill>
              </a:rPr>
              <a:t>²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and Daniel Whiteson</a:t>
            </a:r>
            <a:pPr algn="ctr" indent="0" marL="0">
              <a:buNone/>
            </a:pPr>
            <a:r>
              <a:rPr lang="en-US" sz="1600" baseline="30000" dirty="0">
                <a:solidFill>
                  <a:srgbClr val="FFFFFF"/>
                </a:solidFill>
              </a:rPr>
              <a:t>²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943600" y="2240280"/>
            <a:ext cx="3200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¹Particle Theory Department, Fermilab, Batavia, IL 60510, USA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B0C4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²Department of Physics &amp; Astronomy, University of California, Irvine, CA 92697, USA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4729460" y="3657600"/>
            <a:ext cx="0" cy="28163520"/>
          </a:xfrm>
          <a:prstGeom prst="line">
            <a:avLst/>
          </a:prstGeom>
          <a:noFill/>
          <a:ln w="19050">
            <a:solidFill>
              <a:srgbClr val="D5D8D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9161740" y="3657600"/>
            <a:ext cx="0" cy="28163520"/>
          </a:xfrm>
          <a:prstGeom prst="line">
            <a:avLst/>
          </a:prstGeom>
          <a:noFill/>
          <a:ln w="19050">
            <a:solidFill>
              <a:srgbClr val="D5D8D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" y="3657600"/>
            <a:ext cx="14112240" cy="777240"/>
          </a:xfrm>
          <a:prstGeom prst="roundRect">
            <a:avLst>
              <a:gd name="adj" fmla="val 11765"/>
            </a:avLst>
          </a:prstGeom>
          <a:solidFill>
            <a:srgbClr val="1A5276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" y="3657600"/>
            <a:ext cx="1411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594360" y="4544568"/>
            <a:ext cx="13837920" cy="62179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0033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The LHC searches for BSM physics via missing energy, resonance, and other channels. Current analyses assume signal cross sections are time-invariant.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New physics coupled to ultralight dark matter (DM) can produce time-dependent signal rates — a powerful discriminator orthogonal to kinematics.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0033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Ultralight Dark Matter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Ultralight bosonic DM (mᵈᴹ ≲ 0.1 eV) has large phase-space occupancy and behaves as a classical oscillating background field.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Oscillation period T = 2π/mᵈᴹ ≈ 4 s × (10⁻¹⁵ eV / mᵈᴹ).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de Broglie wavelength is macroscopic: λ ≈ 10⁹ km × (10⁻¹⁵ eV / mᵈᴹ).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Examples: QCD axion, axion-like particles, dark photon, dilaton.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0033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the LHC?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If SM couples to DM only via a TeV-scale mediator, low-energy experiments lose sensitivity → the energy frontier is the natural place to search.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Timing information can improve sensitivity by up to ~2×.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457200" y="10853928"/>
            <a:ext cx="14112240" cy="777240"/>
          </a:xfrm>
          <a:prstGeom prst="roundRect">
            <a:avLst>
              <a:gd name="adj" fmla="val 11765"/>
            </a:avLst>
          </a:prstGeom>
          <a:solidFill>
            <a:srgbClr val="1A5276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57200" y="10853928"/>
            <a:ext cx="1411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&amp; Signal Processes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594360" y="11740896"/>
            <a:ext cx="13837920" cy="5029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Consider ultralight DM (χ) and a dark sector scalar (φ) coupling to SM quarks via:</a:t>
            </a:r>
            <a:endParaRPr lang="en-US" sz="2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243816"/>
            <a:ext cx="5029200" cy="146495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4360" y="13781926"/>
            <a:ext cx="13837920" cy="384048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The classical DM field oscillates as:</a:t>
            </a:r>
            <a:endParaRPr lang="en-US" sz="2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14165974"/>
            <a:ext cx="10972800" cy="16112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" y="15850403"/>
            <a:ext cx="13837920" cy="14630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ρᵈᴹ ≈ 0.4 GeV/cm³; velocity dispersion follows Maxwell–Boltzmann.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Coherence time Tᶜₒₕ ≈ Tₚₑₙ / ⟨v⟩² = Tₚₑₙ × 10⁶.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φ is a TeV-scale dark sector scalar; Λ ~ v′ (dark Higgs VEV).</a:t>
            </a:r>
            <a:endParaRPr lang="en-US" sz="2100" dirty="0"/>
          </a:p>
        </p:txBody>
      </p:sp>
      <p:sp>
        <p:nvSpPr>
          <p:cNvPr id="23" name="Shape 17"/>
          <p:cNvSpPr/>
          <p:nvPr/>
        </p:nvSpPr>
        <p:spPr>
          <a:xfrm>
            <a:off x="1188720" y="17752355"/>
            <a:ext cx="1264920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48640" y="17313443"/>
            <a:ext cx="1392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80B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Feynman Diagrams (Figure 1)</a:t>
            </a:r>
            <a:endParaRPr lang="en-US" sz="2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17862083"/>
            <a:ext cx="12832080" cy="4707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94360" y="22642528"/>
            <a:ext cx="13837920" cy="14630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Left: Missing energy (qq̄ → φ + χ) with Pₛ(t) ∝ χ²(t).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Right: Dijet resonance (qq̄ → φ → qq) with Pₛ(t) ∝ χ⁴(t).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Time-independent channel (⟨χ⟩ → χ) is phase-space suppressed for small mχ.</a:t>
            </a:r>
            <a:endParaRPr lang="en-US" sz="2100" dirty="0"/>
          </a:p>
        </p:txBody>
      </p:sp>
      <p:sp>
        <p:nvSpPr>
          <p:cNvPr id="27" name="Shape 20"/>
          <p:cNvSpPr/>
          <p:nvPr/>
        </p:nvSpPr>
        <p:spPr>
          <a:xfrm>
            <a:off x="1188720" y="24544480"/>
            <a:ext cx="1264920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48640" y="24105568"/>
            <a:ext cx="1392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80B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DM Field Oscillation &amp; Limits (Figure 2)</a:t>
            </a:r>
            <a:endParaRPr lang="en-US" sz="21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4242" y="24654208"/>
            <a:ext cx="7198157" cy="54864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94360" y="30213760"/>
            <a:ext cx="13837920" cy="13716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Top: DM field oscillation over 36 months of LHC Run 2.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Middle: Expected 95% CL limit on Nₛ vs Tₚₑₙᵢₒᵈ.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Bottom: Limits improve up to ~2× for short oscillation periods.</a:t>
            </a:r>
            <a:endParaRPr lang="en-US" sz="2100" dirty="0"/>
          </a:p>
        </p:txBody>
      </p:sp>
      <p:sp>
        <p:nvSpPr>
          <p:cNvPr id="31" name="Shape 23"/>
          <p:cNvSpPr/>
          <p:nvPr/>
        </p:nvSpPr>
        <p:spPr>
          <a:xfrm>
            <a:off x="14889480" y="3657600"/>
            <a:ext cx="14112240" cy="777240"/>
          </a:xfrm>
          <a:prstGeom prst="roundRect">
            <a:avLst>
              <a:gd name="adj" fmla="val 11765"/>
            </a:avLst>
          </a:prstGeom>
          <a:solidFill>
            <a:srgbClr val="1A5276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14889480" y="3657600"/>
            <a:ext cx="1411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Time-dependent Missing Momentum</a:t>
            </a:r>
            <a:endParaRPr lang="en-US" sz="2800" dirty="0"/>
          </a:p>
        </p:txBody>
      </p:sp>
      <p:sp>
        <p:nvSpPr>
          <p:cNvPr id="33" name="Text 25"/>
          <p:cNvSpPr/>
          <p:nvPr/>
        </p:nvSpPr>
        <p:spPr>
          <a:xfrm>
            <a:off x="15026640" y="4544568"/>
            <a:ext cx="13837920" cy="23774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0033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ATLAS Mono-jet Reinterpretation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ATLAS jet + E̸ᵀ search: 139 fb⁻¹, ~36 months, √s = 13 TeV.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Highest E̸ᵀ bin (&gt; 1200 GeV): Nᵇ = 223 ± 19 expected, 207 observed.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Signal rate Pₛ(t) ∝ χ(t)²; background is uniform in time.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0033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Extended Likelihood</a:t>
            </a:r>
            <a:endParaRPr lang="en-US" sz="21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75480" y="6922008"/>
            <a:ext cx="9144000" cy="178315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5026640" y="8778311"/>
            <a:ext cx="13837920" cy="4572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Profiled over 100 random DM field realizations. Phase δ is critical for long Tₚₑₙᵢₒᵈ.</a:t>
            </a:r>
            <a:endParaRPr lang="en-US" sz="2100" dirty="0"/>
          </a:p>
        </p:txBody>
      </p:sp>
      <p:sp>
        <p:nvSpPr>
          <p:cNvPr id="36" name="Shape 27"/>
          <p:cNvSpPr/>
          <p:nvPr/>
        </p:nvSpPr>
        <p:spPr>
          <a:xfrm>
            <a:off x="14889480" y="9326951"/>
            <a:ext cx="14112240" cy="777240"/>
          </a:xfrm>
          <a:prstGeom prst="roundRect">
            <a:avLst>
              <a:gd name="adj" fmla="val 11765"/>
            </a:avLst>
          </a:prstGeom>
          <a:solidFill>
            <a:srgbClr val="1A5276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14889480" y="9326951"/>
            <a:ext cx="1411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Time-dependent Resonances</a:t>
            </a:r>
            <a:endParaRPr lang="en-US" sz="2800" dirty="0"/>
          </a:p>
        </p:txBody>
      </p:sp>
      <p:sp>
        <p:nvSpPr>
          <p:cNvPr id="38" name="Text 29"/>
          <p:cNvSpPr/>
          <p:nvPr/>
        </p:nvSpPr>
        <p:spPr>
          <a:xfrm>
            <a:off x="15026640" y="10213919"/>
            <a:ext cx="13837920" cy="12801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0033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Known Oscillation: Likelihood-Ratio Weighting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Dijet resonance φ → jj at mφ = 750 GeV (MadGraph5 + Pythia + Delphes).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Time component of the likelihood ratio factorizes:</a:t>
            </a:r>
            <a:endParaRPr lang="en-US" sz="21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32680" y="11494079"/>
            <a:ext cx="8229600" cy="176714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5026640" y="13334378"/>
            <a:ext cx="13837920" cy="4572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Weighting events by LR(t) suppresses background relative to signal in the mass distribution.</a:t>
            </a:r>
            <a:endParaRPr lang="en-US" sz="2100" dirty="0"/>
          </a:p>
        </p:txBody>
      </p:sp>
      <p:sp>
        <p:nvSpPr>
          <p:cNvPr id="41" name="Shape 31"/>
          <p:cNvSpPr/>
          <p:nvPr/>
        </p:nvSpPr>
        <p:spPr>
          <a:xfrm>
            <a:off x="15621000" y="14276210"/>
            <a:ext cx="1264920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14980920" y="13837298"/>
            <a:ext cx="1392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80B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Figures 3: Mass–Time &amp; LR Distributions</a:t>
            </a:r>
            <a:endParaRPr lang="en-US" sz="210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63800" y="14585265"/>
            <a:ext cx="6644640" cy="4951297"/>
          </a:xfrm>
          <a:prstGeom prst="rect">
            <a:avLst/>
          </a:prstGeom>
        </p:spPr>
      </p:pic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82760" y="14385938"/>
            <a:ext cx="6644640" cy="5349952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15026640" y="19809041"/>
            <a:ext cx="13837920" cy="7315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Left: Signal &amp; background contours in (mⱼⱼ, t) plane.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Right: LR distributions showing expected separation.</a:t>
            </a:r>
            <a:endParaRPr lang="en-US" sz="2100" dirty="0"/>
          </a:p>
        </p:txBody>
      </p:sp>
      <p:sp>
        <p:nvSpPr>
          <p:cNvPr id="46" name="Shape 34"/>
          <p:cNvSpPr/>
          <p:nvPr/>
        </p:nvSpPr>
        <p:spPr>
          <a:xfrm>
            <a:off x="15621000" y="20979473"/>
            <a:ext cx="1264920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14980920" y="20540561"/>
            <a:ext cx="1392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80B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Figures 4: LR-Weighted Mass &amp; Limits</a:t>
            </a:r>
            <a:endParaRPr lang="en-US" sz="210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63800" y="21101199"/>
            <a:ext cx="6644640" cy="5142910"/>
          </a:xfrm>
          <a:prstGeom prst="rect">
            <a:avLst/>
          </a:prstGeom>
        </p:spPr>
      </p:pic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82760" y="21089201"/>
            <a:ext cx="6644640" cy="5166905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15026640" y="26329258"/>
            <a:ext cx="13837920" cy="7315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Left: Mass distribution before (solid) and after (dashed) LR weighting.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Right: ~50% improvement for Tₚₑₙᵢₒᵈ ∈ [0.01, 1] month.</a:t>
            </a:r>
            <a:endParaRPr lang="en-US" sz="2100" dirty="0"/>
          </a:p>
        </p:txBody>
      </p:sp>
      <p:sp>
        <p:nvSpPr>
          <p:cNvPr id="51" name="Shape 37"/>
          <p:cNvSpPr/>
          <p:nvPr/>
        </p:nvSpPr>
        <p:spPr>
          <a:xfrm>
            <a:off x="29321760" y="3657600"/>
            <a:ext cx="14112240" cy="777240"/>
          </a:xfrm>
          <a:prstGeom prst="roundRect">
            <a:avLst>
              <a:gd name="adj" fmla="val 11765"/>
            </a:avLst>
          </a:prstGeom>
          <a:solidFill>
            <a:srgbClr val="1A5276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52" name="Text 38"/>
          <p:cNvSpPr/>
          <p:nvPr/>
        </p:nvSpPr>
        <p:spPr>
          <a:xfrm>
            <a:off x="29321760" y="3657600"/>
            <a:ext cx="1411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Oscillation (CATHODE)</a:t>
            </a:r>
            <a:endParaRPr lang="en-US" sz="2800" dirty="0"/>
          </a:p>
        </p:txBody>
      </p:sp>
      <p:sp>
        <p:nvSpPr>
          <p:cNvPr id="53" name="Text 39"/>
          <p:cNvSpPr/>
          <p:nvPr/>
        </p:nvSpPr>
        <p:spPr>
          <a:xfrm>
            <a:off x="29458920" y="4544568"/>
            <a:ext cx="13837920" cy="10058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When the oscillation period is unknown, use CATHODE anomaly detection to learn time dependence directly from data.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Auxiliary Fourier feature bank (100 periods × 4 harmonics):</a:t>
            </a:r>
            <a:endParaRPr lang="en-US" sz="2100" dirty="0"/>
          </a:p>
        </p:txBody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19040" y="5550408"/>
            <a:ext cx="10972800" cy="1740057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29458920" y="7363617"/>
            <a:ext cx="13837920" cy="8229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Motivated by sin⁴(x) = [3 − 4 cos(2x) + cos(4x)] / 4.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CATHODE learns an LR-like score without pre-specifying target period or phase.</a:t>
            </a:r>
            <a:endParaRPr lang="en-US" sz="2100" dirty="0"/>
          </a:p>
        </p:txBody>
      </p:sp>
      <p:sp>
        <p:nvSpPr>
          <p:cNvPr id="56" name="Shape 41"/>
          <p:cNvSpPr/>
          <p:nvPr/>
        </p:nvSpPr>
        <p:spPr>
          <a:xfrm>
            <a:off x="30053280" y="8625489"/>
            <a:ext cx="1264920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57" name="Text 42"/>
          <p:cNvSpPr/>
          <p:nvPr/>
        </p:nvSpPr>
        <p:spPr>
          <a:xfrm>
            <a:off x="29413200" y="8186577"/>
            <a:ext cx="1392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80B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Figures 5: CATHODE Output &amp; Limits</a:t>
            </a:r>
            <a:endParaRPr lang="en-US" sz="2100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596080" y="8753172"/>
            <a:ext cx="6644640" cy="5130996"/>
          </a:xfrm>
          <a:prstGeom prst="rect">
            <a:avLst/>
          </a:prstGeom>
        </p:spPr>
      </p:pic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515040" y="8735217"/>
            <a:ext cx="6644640" cy="5166905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29458920" y="13975274"/>
            <a:ext cx="13837920" cy="8229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Left: Learned time score (blue) captures the true modulation (dashed orange).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Right: Relative limit vs Tₚₑₙᵢₒᵈ — bounds are stronger than time-independent analysis.</a:t>
            </a:r>
            <a:endParaRPr lang="en-US" sz="2100" dirty="0"/>
          </a:p>
        </p:txBody>
      </p:sp>
      <p:sp>
        <p:nvSpPr>
          <p:cNvPr id="61" name="Shape 44"/>
          <p:cNvSpPr/>
          <p:nvPr/>
        </p:nvSpPr>
        <p:spPr>
          <a:xfrm>
            <a:off x="29321760" y="14889674"/>
            <a:ext cx="14112240" cy="777240"/>
          </a:xfrm>
          <a:prstGeom prst="roundRect">
            <a:avLst>
              <a:gd name="adj" fmla="val 11765"/>
            </a:avLst>
          </a:prstGeom>
          <a:solidFill>
            <a:srgbClr val="1A5276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62" name="Text 45"/>
          <p:cNvSpPr/>
          <p:nvPr/>
        </p:nvSpPr>
        <p:spPr>
          <a:xfrm>
            <a:off x="29321760" y="14889674"/>
            <a:ext cx="1411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Sidebands in Time</a:t>
            </a:r>
            <a:endParaRPr lang="en-US" sz="2800" dirty="0"/>
          </a:p>
        </p:txBody>
      </p:sp>
      <p:sp>
        <p:nvSpPr>
          <p:cNvPr id="63" name="Text 46"/>
          <p:cNvSpPr/>
          <p:nvPr/>
        </p:nvSpPr>
        <p:spPr>
          <a:xfrm>
            <a:off x="29458920" y="15776642"/>
            <a:ext cx="13837920" cy="9144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Mass sidebands fail when the background has non-trivial features (peaks, turn-ons) near the signal region.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Key insight: low signal-to-background time intervals can constrain the background shape directly in the signal mass region.</a:t>
            </a:r>
            <a:endParaRPr lang="en-US" sz="2100" dirty="0"/>
          </a:p>
        </p:txBody>
      </p:sp>
      <p:sp>
        <p:nvSpPr>
          <p:cNvPr id="64" name="Shape 47"/>
          <p:cNvSpPr/>
          <p:nvPr/>
        </p:nvSpPr>
        <p:spPr>
          <a:xfrm>
            <a:off x="30053280" y="17129954"/>
            <a:ext cx="12649200" cy="0"/>
          </a:xfrm>
          <a:prstGeom prst="line">
            <a:avLst/>
          </a:prstGeom>
          <a:noFill/>
          <a:ln w="12700">
            <a:solidFill>
              <a:srgbClr val="2980B9"/>
            </a:solidFill>
            <a:prstDash val="solid"/>
          </a:ln>
        </p:spPr>
      </p:sp>
      <p:sp>
        <p:nvSpPr>
          <p:cNvPr id="65" name="Text 48"/>
          <p:cNvSpPr/>
          <p:nvPr/>
        </p:nvSpPr>
        <p:spPr>
          <a:xfrm>
            <a:off x="29413200" y="16691042"/>
            <a:ext cx="1392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80B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Figures 6 &amp; 7: Toy Background &amp; Time-Band Limits</a:t>
            </a:r>
            <a:endParaRPr lang="en-US" sz="2100" dirty="0"/>
          </a:p>
        </p:txBody>
      </p:sp>
      <p:pic>
        <p:nvPicPr>
          <p:cNvPr id="6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596080" y="17239682"/>
            <a:ext cx="6644640" cy="5123084"/>
          </a:xfrm>
          <a:prstGeom prst="rect">
            <a:avLst/>
          </a:prstGeom>
        </p:spPr>
      </p:pic>
      <p:pic>
        <p:nvPicPr>
          <p:cNvPr id="6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515040" y="17243626"/>
            <a:ext cx="6644640" cy="5115196"/>
          </a:xfrm>
          <a:prstGeom prst="rect">
            <a:avLst/>
          </a:prstGeom>
        </p:spPr>
      </p:pic>
      <p:pic>
        <p:nvPicPr>
          <p:cNvPr id="6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963864" y="22481638"/>
            <a:ext cx="4828032" cy="3657600"/>
          </a:xfrm>
          <a:prstGeom prst="rect">
            <a:avLst/>
          </a:prstGeom>
        </p:spPr>
      </p:pic>
      <p:sp>
        <p:nvSpPr>
          <p:cNvPr id="69" name="Text 49"/>
          <p:cNvSpPr/>
          <p:nvPr/>
        </p:nvSpPr>
        <p:spPr>
          <a:xfrm>
            <a:off x="29458920" y="26212390"/>
            <a:ext cx="13837920" cy="13716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Top left (Fig. 6): Toy background with non-trivial peak at resonance mass.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Top right (Fig. 7 top): Time sidebands maintain sensitivity even with large background uncertainty (α = 1): Nₛ from 290 → 125.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Bottom (Fig. 7 bottom): Limit scan over background uncertainty α and signal fraction.</a:t>
            </a:r>
            <a:endParaRPr lang="en-US" sz="2100" dirty="0"/>
          </a:p>
        </p:txBody>
      </p:sp>
      <p:sp>
        <p:nvSpPr>
          <p:cNvPr id="70" name="Shape 50"/>
          <p:cNvSpPr/>
          <p:nvPr/>
        </p:nvSpPr>
        <p:spPr>
          <a:xfrm>
            <a:off x="29321760" y="27675430"/>
            <a:ext cx="14112240" cy="777240"/>
          </a:xfrm>
          <a:prstGeom prst="roundRect">
            <a:avLst>
              <a:gd name="adj" fmla="val 11765"/>
            </a:avLst>
          </a:prstGeom>
          <a:solidFill>
            <a:srgbClr val="1A5276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71" name="Text 51"/>
          <p:cNvSpPr/>
          <p:nvPr/>
        </p:nvSpPr>
        <p:spPr>
          <a:xfrm>
            <a:off x="29321760" y="27675430"/>
            <a:ext cx="1411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Conclusions</a:t>
            </a:r>
            <a:endParaRPr lang="en-US" sz="2800" dirty="0"/>
          </a:p>
        </p:txBody>
      </p:sp>
      <p:sp>
        <p:nvSpPr>
          <p:cNvPr id="72" name="Text 52"/>
          <p:cNvSpPr/>
          <p:nvPr/>
        </p:nvSpPr>
        <p:spPr>
          <a:xfrm>
            <a:off x="29458920" y="28562398"/>
            <a:ext cx="13837920" cy="41148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0033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Systematics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Time-dependent systematics (luminosity decay, beam–beam effects, dust, ground motion) are generally non-periodic → distinguishable from signal in Fourier space.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0033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Time-dependent signals provide a discriminator orthogonal to kinematics.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ATLAS mono-jet: limits improve up to ~2× with timing information.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Dijet resonances + LR weighting: ~50% stronger limits.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CATHODE learns oscillation from data using Fourier features.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Time sidebands directly constrain background in the signal region.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The LHC can function as a direct-detection experiment for ultralight DM.</a:t>
            </a:r>
            <a:endParaRPr lang="en-US" sz="2100" dirty="0"/>
          </a:p>
        </p:txBody>
      </p:sp>
      <p:sp>
        <p:nvSpPr>
          <p:cNvPr id="73" name="Shape 53"/>
          <p:cNvSpPr/>
          <p:nvPr/>
        </p:nvSpPr>
        <p:spPr>
          <a:xfrm>
            <a:off x="457200" y="32049720"/>
            <a:ext cx="4297680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4" name="Text 54"/>
          <p:cNvSpPr/>
          <p:nvPr/>
        </p:nvSpPr>
        <p:spPr>
          <a:xfrm>
            <a:off x="640080" y="32141160"/>
            <a:ext cx="3291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Acknowledgments: DW funded by DOE Office of Science. MF supported by NSF PHY-2210283 &amp; GRFP DGE-1839285. MF &amp; PF supported by Fermilab (DOE Contract 89243024CSC000002). Thanks to H. Frisch and D. Miller for useful discussions.</a:t>
            </a:r>
            <a:endParaRPr lang="en-US" sz="1100" dirty="0"/>
          </a:p>
        </p:txBody>
      </p:sp>
      <p:pic>
        <p:nvPicPr>
          <p:cNvPr id="7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661600" y="32095440"/>
            <a:ext cx="2743200" cy="685800"/>
          </a:xfrm>
          <a:prstGeom prst="rect">
            <a:avLst/>
          </a:prstGeom>
        </p:spPr>
      </p:pic>
      <p:pic>
        <p:nvPicPr>
          <p:cNvPr id="7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770560" y="32168592"/>
            <a:ext cx="2377440" cy="429768"/>
          </a:xfrm>
          <a:prstGeom prst="rect">
            <a:avLst/>
          </a:prstGeom>
        </p:spPr>
      </p:pic>
      <p:pic>
        <p:nvPicPr>
          <p:cNvPr id="7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422320" y="3204972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Time-dependent Signals of New Physics at the LHC</dc:title>
  <dc:subject>PptxGenJS Presentation</dc:subject>
  <dc:creator>Jinbo Zhang</dc:creator>
  <cp:lastModifiedBy>Jinbo Zhang</cp:lastModifiedBy>
  <cp:revision>1</cp:revision>
  <dcterms:created xsi:type="dcterms:W3CDTF">2026-04-12T06:49:01Z</dcterms:created>
  <dcterms:modified xsi:type="dcterms:W3CDTF">2026-04-12T06:49:01Z</dcterms:modified>
</cp:coreProperties>
</file>